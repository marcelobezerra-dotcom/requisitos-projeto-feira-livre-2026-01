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harlevoix Heavy" charset="1" panose="00000300000000000000"/>
      <p:regular r:id="rId14"/>
    </p:embeddedFont>
    <p:embeddedFont>
      <p:font typeface="Roboto" charset="1" panose="02000000000000000000"/>
      <p:regular r:id="rId15"/>
    </p:embeddedFont>
    <p:embeddedFont>
      <p:font typeface="Charlevoix Bold" charset="1" panose="000003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13732" y="-235594"/>
            <a:ext cx="9149344" cy="11511369"/>
            <a:chOff x="0" y="0"/>
            <a:chExt cx="2409704" cy="30318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9704" cy="3031801"/>
            </a:xfrm>
            <a:custGeom>
              <a:avLst/>
              <a:gdLst/>
              <a:ahLst/>
              <a:cxnLst/>
              <a:rect r="r" b="b" t="t" l="l"/>
              <a:pathLst>
                <a:path h="3031801" w="2409704">
                  <a:moveTo>
                    <a:pt x="0" y="0"/>
                  </a:moveTo>
                  <a:lnTo>
                    <a:pt x="2409704" y="0"/>
                  </a:lnTo>
                  <a:lnTo>
                    <a:pt x="2409704" y="3031801"/>
                  </a:lnTo>
                  <a:lnTo>
                    <a:pt x="0" y="3031801"/>
                  </a:lnTo>
                  <a:close/>
                </a:path>
              </a:pathLst>
            </a:custGeom>
            <a:solidFill>
              <a:srgbClr val="F5AD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09704" cy="3069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6315385" y="-3881997"/>
            <a:ext cx="11139068" cy="17716212"/>
          </a:xfrm>
          <a:custGeom>
            <a:avLst/>
            <a:gdLst/>
            <a:ahLst/>
            <a:cxnLst/>
            <a:rect r="r" b="b" t="t" l="l"/>
            <a:pathLst>
              <a:path h="17716212" w="11139068">
                <a:moveTo>
                  <a:pt x="0" y="0"/>
                </a:moveTo>
                <a:lnTo>
                  <a:pt x="11139068" y="0"/>
                </a:lnTo>
                <a:lnTo>
                  <a:pt x="11139068" y="17716212"/>
                </a:lnTo>
                <a:lnTo>
                  <a:pt x="0" y="17716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81025" y="6889619"/>
            <a:ext cx="6362975" cy="101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80"/>
              </a:lnSpc>
            </a:pPr>
            <a:r>
              <a:rPr lang="en-US" b="true" sz="6540" spc="-425">
                <a:solidFill>
                  <a:srgbClr val="006DAC"/>
                </a:solidFill>
                <a:latin typeface="Charlevoix Heavy"/>
                <a:ea typeface="Charlevoix Heavy"/>
                <a:cs typeface="Charlevoix Heavy"/>
                <a:sym typeface="Charlevoix Heavy"/>
              </a:rPr>
              <a:t>UNIFOR  |  2024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81025" y="5291923"/>
            <a:ext cx="6362975" cy="1258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12"/>
              </a:lnSpc>
            </a:pPr>
            <a:r>
              <a:rPr lang="en-US" b="true" sz="9059" spc="-588">
                <a:solidFill>
                  <a:srgbClr val="006DAC"/>
                </a:solidFill>
                <a:latin typeface="Charlevoix Heavy"/>
                <a:ea typeface="Charlevoix Heavy"/>
                <a:cs typeface="Charlevoix Heavy"/>
                <a:sym typeface="Charlevoix Heavy"/>
              </a:rPr>
              <a:t>REQUISITOS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43099" y="4845003"/>
            <a:ext cx="6514001" cy="1199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76"/>
              </a:lnSpc>
            </a:pPr>
            <a:r>
              <a:rPr lang="en-US" b="true" sz="4453" spc="-289">
                <a:solidFill>
                  <a:srgbClr val="F55F38"/>
                </a:solidFill>
                <a:latin typeface="Charlevoix Heavy"/>
                <a:ea typeface="Charlevoix Heavy"/>
                <a:cs typeface="Charlevoix Heavy"/>
                <a:sym typeface="Charlevoix Heavy"/>
              </a:rPr>
              <a:t>PROPOSTA DE SISTEMA –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5400000">
            <a:off x="-2775918" y="2446486"/>
            <a:ext cx="9785943" cy="4892971"/>
          </a:xfrm>
          <a:custGeom>
            <a:avLst/>
            <a:gdLst/>
            <a:ahLst/>
            <a:cxnLst/>
            <a:rect r="r" b="b" t="t" l="l"/>
            <a:pathLst>
              <a:path h="4892971" w="9785943">
                <a:moveTo>
                  <a:pt x="9785943" y="4892971"/>
                </a:moveTo>
                <a:lnTo>
                  <a:pt x="0" y="4892971"/>
                </a:lnTo>
                <a:lnTo>
                  <a:pt x="0" y="0"/>
                </a:lnTo>
                <a:lnTo>
                  <a:pt x="9785943" y="0"/>
                </a:lnTo>
                <a:lnTo>
                  <a:pt x="9785943" y="489297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5065" y="2400442"/>
            <a:ext cx="6751699" cy="5669770"/>
            <a:chOff x="-468630" y="0"/>
            <a:chExt cx="6625590" cy="55638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468230" y="0"/>
              <a:ext cx="6157360" cy="5096041"/>
            </a:xfrm>
            <a:custGeom>
              <a:avLst/>
              <a:gdLst/>
              <a:ahLst/>
              <a:cxnLst/>
              <a:rect r="r" b="b" t="t" l="l"/>
              <a:pathLst>
                <a:path h="5096041" w="6157360">
                  <a:moveTo>
                    <a:pt x="3331610" y="1765300"/>
                  </a:moveTo>
                  <a:lnTo>
                    <a:pt x="6157360" y="3530600"/>
                  </a:lnTo>
                  <a:cubicBezTo>
                    <a:pt x="5182000" y="5090160"/>
                    <a:pt x="3127140" y="5563870"/>
                    <a:pt x="1566310" y="4589780"/>
                  </a:cubicBezTo>
                  <a:cubicBezTo>
                    <a:pt x="5480" y="3615690"/>
                    <a:pt x="-468230" y="1559560"/>
                    <a:pt x="507130" y="0"/>
                  </a:cubicBezTo>
                  <a:lnTo>
                    <a:pt x="3331610" y="1765300"/>
                  </a:lnTo>
                  <a:close/>
                </a:path>
              </a:pathLst>
            </a:custGeom>
            <a:blipFill>
              <a:blip r:embed="rId4"/>
              <a:stretch>
                <a:fillRect l="-8778" t="0" r="6443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9144000" y="2993234"/>
            <a:ext cx="8014708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30"/>
              </a:lnSpc>
            </a:pPr>
            <a:r>
              <a:rPr lang="en-US" b="true" sz="6500" spc="-422">
                <a:solidFill>
                  <a:srgbClr val="006DAC"/>
                </a:solidFill>
                <a:latin typeface="Charlevoix Heavy"/>
                <a:ea typeface="Charlevoix Heavy"/>
                <a:cs typeface="Charlevoix Heavy"/>
                <a:sym typeface="Charlevoix Heavy"/>
              </a:rPr>
              <a:t>O PROBLEMA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5447663"/>
            <a:ext cx="8014708" cy="3498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</a:pPr>
            <a:r>
              <a:rPr lang="en-US" sz="2500">
                <a:solidFill>
                  <a:srgbClr val="006DAC"/>
                </a:solidFill>
                <a:latin typeface="Roboto"/>
                <a:ea typeface="Roboto"/>
                <a:cs typeface="Roboto"/>
                <a:sym typeface="Roboto"/>
              </a:rPr>
              <a:t>A gestão de requisitos de software em ambiente acadêmico ainda é realizada de forma manual e fragmentada. Estudantes e professores enfrentam dificuldades para registrar, rastrear e validar requisitos de projetos, resultando em retrabalho, falta de rastreabilidade e baixa qualidade nas entregas. Estima-se que mais de 60% dos projetos de software falham por problemas na fase de levantamento de requisitos.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17869" y="-561110"/>
            <a:ext cx="9648825" cy="11419404"/>
            <a:chOff x="0" y="0"/>
            <a:chExt cx="2541254" cy="30075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1254" cy="3007580"/>
            </a:xfrm>
            <a:custGeom>
              <a:avLst/>
              <a:gdLst/>
              <a:ahLst/>
              <a:cxnLst/>
              <a:rect r="r" b="b" t="t" l="l"/>
              <a:pathLst>
                <a:path h="3007580" w="2541254">
                  <a:moveTo>
                    <a:pt x="0" y="0"/>
                  </a:moveTo>
                  <a:lnTo>
                    <a:pt x="2541254" y="0"/>
                  </a:lnTo>
                  <a:lnTo>
                    <a:pt x="2541254" y="3007580"/>
                  </a:lnTo>
                  <a:lnTo>
                    <a:pt x="0" y="3007580"/>
                  </a:lnTo>
                  <a:close/>
                </a:path>
              </a:pathLst>
            </a:custGeom>
            <a:solidFill>
              <a:srgbClr val="F5AD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1254" cy="3045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816893" y="2645917"/>
            <a:ext cx="1193235" cy="1231338"/>
          </a:xfrm>
          <a:custGeom>
            <a:avLst/>
            <a:gdLst/>
            <a:ahLst/>
            <a:cxnLst/>
            <a:rect r="r" b="b" t="t" l="l"/>
            <a:pathLst>
              <a:path h="1231338" w="1193235">
                <a:moveTo>
                  <a:pt x="0" y="0"/>
                </a:moveTo>
                <a:lnTo>
                  <a:pt x="1193235" y="0"/>
                </a:lnTo>
                <a:lnTo>
                  <a:pt x="1193235" y="1231338"/>
                </a:lnTo>
                <a:lnTo>
                  <a:pt x="0" y="12313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835147" y="3895732"/>
            <a:ext cx="981099" cy="2499150"/>
          </a:xfrm>
          <a:custGeom>
            <a:avLst/>
            <a:gdLst/>
            <a:ahLst/>
            <a:cxnLst/>
            <a:rect r="r" b="b" t="t" l="l"/>
            <a:pathLst>
              <a:path h="2499150" w="981099">
                <a:moveTo>
                  <a:pt x="0" y="0"/>
                </a:moveTo>
                <a:lnTo>
                  <a:pt x="981099" y="0"/>
                </a:lnTo>
                <a:lnTo>
                  <a:pt x="981099" y="2499150"/>
                </a:lnTo>
                <a:lnTo>
                  <a:pt x="0" y="2499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89591" y="6079171"/>
            <a:ext cx="1710680" cy="1258396"/>
          </a:xfrm>
          <a:custGeom>
            <a:avLst/>
            <a:gdLst/>
            <a:ahLst/>
            <a:cxnLst/>
            <a:rect r="r" b="b" t="t" l="l"/>
            <a:pathLst>
              <a:path h="1258396" w="1710680">
                <a:moveTo>
                  <a:pt x="0" y="0"/>
                </a:moveTo>
                <a:lnTo>
                  <a:pt x="1710680" y="0"/>
                </a:lnTo>
                <a:lnTo>
                  <a:pt x="1710680" y="1258396"/>
                </a:lnTo>
                <a:lnTo>
                  <a:pt x="0" y="12583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297186" y="8302528"/>
            <a:ext cx="4590548" cy="4114800"/>
          </a:xfrm>
          <a:custGeom>
            <a:avLst/>
            <a:gdLst/>
            <a:ahLst/>
            <a:cxnLst/>
            <a:rect r="r" b="b" t="t" l="l"/>
            <a:pathLst>
              <a:path h="4114800" w="4590548">
                <a:moveTo>
                  <a:pt x="0" y="0"/>
                </a:moveTo>
                <a:lnTo>
                  <a:pt x="4590547" y="0"/>
                </a:lnTo>
                <a:lnTo>
                  <a:pt x="45905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50745" y="1997701"/>
            <a:ext cx="5796855" cy="2002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4"/>
              </a:lnSpc>
            </a:pPr>
            <a:r>
              <a:rPr lang="en-US" b="true" sz="6495" spc="-422">
                <a:solidFill>
                  <a:srgbClr val="006DAC"/>
                </a:solidFill>
                <a:latin typeface="Charlevoix Heavy"/>
                <a:ea typeface="Charlevoix Heavy"/>
                <a:cs typeface="Charlevoix Heavy"/>
                <a:sym typeface="Charlevoix Heavy"/>
              </a:rPr>
              <a:t>PÚBLICO-</a:t>
            </a:r>
          </a:p>
          <a:p>
            <a:pPr algn="l" marL="0" indent="0" lvl="0">
              <a:lnSpc>
                <a:spcPts val="7924"/>
              </a:lnSpc>
            </a:pPr>
            <a:r>
              <a:rPr lang="en-US" b="true" sz="6495" spc="-422">
                <a:solidFill>
                  <a:srgbClr val="006DAC"/>
                </a:solidFill>
                <a:latin typeface="Charlevoix Heavy"/>
                <a:ea typeface="Charlevoix Heavy"/>
                <a:cs typeface="Charlevoix Heavy"/>
                <a:sym typeface="Charlevoix Heavy"/>
              </a:rPr>
              <a:t>ALVO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58650" y="3057010"/>
            <a:ext cx="196273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1"/>
              </a:lnSpc>
            </a:pPr>
            <a:r>
              <a:rPr lang="en-US" b="true" sz="2550" spc="-165">
                <a:solidFill>
                  <a:srgbClr val="037094"/>
                </a:solidFill>
                <a:latin typeface="Charlevoix Bold"/>
                <a:ea typeface="Charlevoix Bold"/>
                <a:cs typeface="Charlevoix Bold"/>
                <a:sym typeface="Charlevoix Bold"/>
              </a:rPr>
              <a:t>ESTUDANTES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58650" y="4851130"/>
            <a:ext cx="2636006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1"/>
              </a:lnSpc>
            </a:pPr>
            <a:r>
              <a:rPr lang="en-US" b="true" sz="2550" spc="-165">
                <a:solidFill>
                  <a:srgbClr val="037094"/>
                </a:solidFill>
                <a:latin typeface="Charlevoix Bold"/>
                <a:ea typeface="Charlevoix Bold"/>
                <a:cs typeface="Charlevoix Bold"/>
                <a:sym typeface="Charlevoix Bold"/>
              </a:rPr>
              <a:t>PROFESSORES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58650" y="6564964"/>
            <a:ext cx="4378605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1"/>
              </a:lnSpc>
            </a:pPr>
            <a:r>
              <a:rPr lang="en-US" b="true" sz="2550" spc="-165">
                <a:solidFill>
                  <a:srgbClr val="037094"/>
                </a:solidFill>
                <a:latin typeface="Charlevoix Bold"/>
                <a:ea typeface="Charlevoix Bold"/>
                <a:cs typeface="Charlevoix Bold"/>
                <a:sym typeface="Charlevoix Bold"/>
              </a:rPr>
              <a:t>EQUIPE ADMINISTRATIVA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50745" y="4226358"/>
            <a:ext cx="6192900" cy="2184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</a:pPr>
            <a:r>
              <a:rPr lang="en-US" sz="2500">
                <a:solidFill>
                  <a:srgbClr val="006DAC"/>
                </a:solidFill>
                <a:latin typeface="Roboto"/>
                <a:ea typeface="Roboto"/>
                <a:cs typeface="Roboto"/>
                <a:sym typeface="Roboto"/>
              </a:rPr>
              <a:t>O sistema foi desenvolvido para atender três grupos principais da comunidade acadêmica da Unifor. Cada público possui necessidades específicas que o sistema busca suprir de forma eficiente e integrada.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0594782" y="6667950"/>
            <a:ext cx="4287167" cy="4341955"/>
          </a:xfrm>
          <a:custGeom>
            <a:avLst/>
            <a:gdLst/>
            <a:ahLst/>
            <a:cxnLst/>
            <a:rect r="r" b="b" t="t" l="l"/>
            <a:pathLst>
              <a:path h="4341955" w="4287167">
                <a:moveTo>
                  <a:pt x="0" y="0"/>
                </a:moveTo>
                <a:lnTo>
                  <a:pt x="4287167" y="0"/>
                </a:lnTo>
                <a:lnTo>
                  <a:pt x="4287167" y="4341955"/>
                </a:lnTo>
                <a:lnTo>
                  <a:pt x="0" y="434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309107" y="-254230"/>
            <a:ext cx="11453406" cy="11640876"/>
            <a:chOff x="0" y="0"/>
            <a:chExt cx="3016535" cy="30659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16535" cy="3065910"/>
            </a:xfrm>
            <a:custGeom>
              <a:avLst/>
              <a:gdLst/>
              <a:ahLst/>
              <a:cxnLst/>
              <a:rect r="r" b="b" t="t" l="l"/>
              <a:pathLst>
                <a:path h="3065910" w="3016535">
                  <a:moveTo>
                    <a:pt x="0" y="0"/>
                  </a:moveTo>
                  <a:lnTo>
                    <a:pt x="3016535" y="0"/>
                  </a:lnTo>
                  <a:lnTo>
                    <a:pt x="3016535" y="3065910"/>
                  </a:lnTo>
                  <a:lnTo>
                    <a:pt x="0" y="3065910"/>
                  </a:lnTo>
                  <a:close/>
                </a:path>
              </a:pathLst>
            </a:custGeom>
            <a:solidFill>
              <a:srgbClr val="F55F3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016535" cy="3104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986139" y="1276774"/>
            <a:ext cx="6645935" cy="7733451"/>
            <a:chOff x="0" y="0"/>
            <a:chExt cx="6985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3"/>
              <a:stretch>
                <a:fillRect l="0" t="-3129" r="0" b="-3129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50745" y="2887995"/>
            <a:ext cx="5796855" cy="70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58"/>
              </a:lnSpc>
            </a:pPr>
            <a:r>
              <a:rPr lang="en-US" b="true" sz="4556" spc="-296">
                <a:solidFill>
                  <a:srgbClr val="006DAC"/>
                </a:solidFill>
                <a:latin typeface="Charlevoix Heavy"/>
                <a:ea typeface="Charlevoix Heavy"/>
                <a:cs typeface="Charlevoix Heavy"/>
                <a:sym typeface="Charlevoix Heavy"/>
              </a:rPr>
              <a:t>SOLUÇÃO PROPOSTA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50745" y="4235883"/>
            <a:ext cx="7593255" cy="4365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sz="2498">
                <a:solidFill>
                  <a:srgbClr val="006DAC"/>
                </a:solidFill>
                <a:latin typeface="Roboto"/>
                <a:ea typeface="Roboto"/>
                <a:cs typeface="Roboto"/>
                <a:sym typeface="Roboto"/>
              </a:rPr>
              <a:t>O sistema proposto é uma plataforma web integrada voltada à gestão acadêmica de requisitos de software. Seu objetivo é centralizar o processo de levantamento, documentação e validação de requisitos, oferecendo uma interface intuitiva e colaborativa.</a:t>
            </a:r>
          </a:p>
          <a:p>
            <a:pPr algn="l" marL="0" indent="0" lvl="0">
              <a:lnSpc>
                <a:spcPts val="3497"/>
              </a:lnSpc>
            </a:pPr>
            <a:r>
              <a:rPr lang="en-US" sz="2498">
                <a:solidFill>
                  <a:srgbClr val="006DAC"/>
                </a:solidFill>
                <a:latin typeface="Roboto"/>
                <a:ea typeface="Roboto"/>
                <a:cs typeface="Roboto"/>
                <a:sym typeface="Roboto"/>
              </a:rPr>
              <a:t>Proposta de valor: simplificar o fluxo de trabalho entre alunos e professores, garantindo rastreabilidade, organização e qualidade na produção dos artefatos da disciplina de Requisitos da Unifor.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1331" y="6064488"/>
            <a:ext cx="1347142" cy="1480290"/>
          </a:xfrm>
          <a:custGeom>
            <a:avLst/>
            <a:gdLst/>
            <a:ahLst/>
            <a:cxnLst/>
            <a:rect r="r" b="b" t="t" l="l"/>
            <a:pathLst>
              <a:path h="1480290" w="1347142">
                <a:moveTo>
                  <a:pt x="0" y="0"/>
                </a:moveTo>
                <a:lnTo>
                  <a:pt x="1347141" y="0"/>
                </a:lnTo>
                <a:lnTo>
                  <a:pt x="1347141" y="1480290"/>
                </a:lnTo>
                <a:lnTo>
                  <a:pt x="0" y="14802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39599" y="6264817"/>
            <a:ext cx="1044137" cy="1377713"/>
          </a:xfrm>
          <a:custGeom>
            <a:avLst/>
            <a:gdLst/>
            <a:ahLst/>
            <a:cxnLst/>
            <a:rect r="r" b="b" t="t" l="l"/>
            <a:pathLst>
              <a:path h="1377713" w="1044137">
                <a:moveTo>
                  <a:pt x="0" y="0"/>
                </a:moveTo>
                <a:lnTo>
                  <a:pt x="1044137" y="0"/>
                </a:lnTo>
                <a:lnTo>
                  <a:pt x="1044137" y="1377713"/>
                </a:lnTo>
                <a:lnTo>
                  <a:pt x="0" y="13777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81285" y="6214621"/>
            <a:ext cx="1689962" cy="1309161"/>
          </a:xfrm>
          <a:custGeom>
            <a:avLst/>
            <a:gdLst/>
            <a:ahLst/>
            <a:cxnLst/>
            <a:rect r="r" b="b" t="t" l="l"/>
            <a:pathLst>
              <a:path h="1309161" w="1689962">
                <a:moveTo>
                  <a:pt x="0" y="0"/>
                </a:moveTo>
                <a:lnTo>
                  <a:pt x="1689962" y="0"/>
                </a:lnTo>
                <a:lnTo>
                  <a:pt x="1689962" y="1309160"/>
                </a:lnTo>
                <a:lnTo>
                  <a:pt x="0" y="13091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667655" y="6081754"/>
            <a:ext cx="1481437" cy="1325761"/>
          </a:xfrm>
          <a:custGeom>
            <a:avLst/>
            <a:gdLst/>
            <a:ahLst/>
            <a:cxnLst/>
            <a:rect r="r" b="b" t="t" l="l"/>
            <a:pathLst>
              <a:path h="1325761" w="1481437">
                <a:moveTo>
                  <a:pt x="0" y="0"/>
                </a:moveTo>
                <a:lnTo>
                  <a:pt x="1481437" y="0"/>
                </a:lnTo>
                <a:lnTo>
                  <a:pt x="1481437" y="1325760"/>
                </a:lnTo>
                <a:lnTo>
                  <a:pt x="0" y="13257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3661002" y="-885199"/>
            <a:ext cx="5184149" cy="5184149"/>
          </a:xfrm>
          <a:custGeom>
            <a:avLst/>
            <a:gdLst/>
            <a:ahLst/>
            <a:cxnLst/>
            <a:rect r="r" b="b" t="t" l="l"/>
            <a:pathLst>
              <a:path h="5184149" w="5184149">
                <a:moveTo>
                  <a:pt x="0" y="0"/>
                </a:moveTo>
                <a:lnTo>
                  <a:pt x="5184149" y="0"/>
                </a:lnTo>
                <a:lnTo>
                  <a:pt x="5184149" y="5184149"/>
                </a:lnTo>
                <a:lnTo>
                  <a:pt x="0" y="51841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50745" y="1997701"/>
            <a:ext cx="12110257" cy="1002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4"/>
              </a:lnSpc>
            </a:pPr>
            <a:r>
              <a:rPr lang="en-US" b="true" sz="6495" spc="-422">
                <a:solidFill>
                  <a:srgbClr val="006DAC"/>
                </a:solidFill>
                <a:latin typeface="Charlevoix Heavy"/>
                <a:ea typeface="Charlevoix Heavy"/>
                <a:cs typeface="Charlevoix Heavy"/>
                <a:sym typeface="Charlevoix Heavy"/>
              </a:rPr>
              <a:t>FUNCIONALIDADES PRINCIPAIS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50745" y="3397251"/>
            <a:ext cx="10023037" cy="1746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</a:pPr>
            <a:r>
              <a:rPr lang="en-US" sz="2500">
                <a:solidFill>
                  <a:srgbClr val="006DAC"/>
                </a:solidFill>
                <a:latin typeface="Roboto"/>
                <a:ea typeface="Roboto"/>
                <a:cs typeface="Roboto"/>
                <a:sym typeface="Roboto"/>
              </a:rPr>
              <a:t>O sistema conta com funcionalidades essenciais para atender às necessidades dos usuários. Cada recurso foi planejado para garantir eficiência, praticidade e uma experiência intuitiva, contribuindo diretamente para os objetivos da disciplina de Requisitos da Unifor.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50745" y="7677060"/>
            <a:ext cx="2153034" cy="1525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26"/>
              </a:lnSpc>
            </a:pPr>
            <a:r>
              <a:rPr lang="en-US" b="true" sz="3300" spc="-214">
                <a:solidFill>
                  <a:srgbClr val="F55F38"/>
                </a:solidFill>
                <a:latin typeface="Charlevoix Bold"/>
                <a:ea typeface="Charlevoix Bold"/>
                <a:cs typeface="Charlevoix Bold"/>
                <a:sym typeface="Charlevoix Bold"/>
              </a:rPr>
              <a:t>CADASTRO DE USUÁRIOS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07950" y="7677060"/>
            <a:ext cx="4174440" cy="515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26"/>
              </a:lnSpc>
            </a:pPr>
            <a:r>
              <a:rPr lang="en-US" b="true" sz="3300" spc="-214">
                <a:solidFill>
                  <a:srgbClr val="F55F38"/>
                </a:solidFill>
                <a:latin typeface="Charlevoix Bold"/>
                <a:ea typeface="Charlevoix Bold"/>
                <a:cs typeface="Charlevoix Bold"/>
                <a:sym typeface="Charlevoix Bold"/>
              </a:rPr>
              <a:t>GESTÃO DE TAREFAS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86562" y="7677060"/>
            <a:ext cx="2924572" cy="1020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26"/>
              </a:lnSpc>
            </a:pPr>
            <a:r>
              <a:rPr lang="en-US" b="true" sz="3300" spc="-214">
                <a:solidFill>
                  <a:srgbClr val="F55F38"/>
                </a:solidFill>
                <a:latin typeface="Charlevoix Bold"/>
                <a:ea typeface="Charlevoix Bold"/>
                <a:cs typeface="Charlevoix Bold"/>
                <a:sym typeface="Charlevoix Bold"/>
              </a:rPr>
              <a:t>NOTIFICAÇÕES AUTOMÁTICAS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84860" y="7677060"/>
            <a:ext cx="4174440" cy="1020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26"/>
              </a:lnSpc>
            </a:pPr>
            <a:r>
              <a:rPr lang="en-US" b="true" sz="3300" spc="-214">
                <a:solidFill>
                  <a:srgbClr val="F55F38"/>
                </a:solidFill>
                <a:latin typeface="Charlevoix Bold"/>
                <a:ea typeface="Charlevoix Bold"/>
                <a:cs typeface="Charlevoix Bold"/>
                <a:sym typeface="Charlevoix Bold"/>
              </a:rPr>
              <a:t>RELATÓRIOS CUSTOMIZADOS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70124" y="-472656"/>
            <a:ext cx="9507513" cy="11232313"/>
          </a:xfrm>
          <a:custGeom>
            <a:avLst/>
            <a:gdLst/>
            <a:ahLst/>
            <a:cxnLst/>
            <a:rect r="r" b="b" t="t" l="l"/>
            <a:pathLst>
              <a:path h="11232313" w="9507513">
                <a:moveTo>
                  <a:pt x="0" y="0"/>
                </a:moveTo>
                <a:lnTo>
                  <a:pt x="9507513" y="0"/>
                </a:lnTo>
                <a:lnTo>
                  <a:pt x="9507513" y="11232312"/>
                </a:lnTo>
                <a:lnTo>
                  <a:pt x="0" y="11232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30" r="0" b="-233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0" y="2595486"/>
            <a:ext cx="7338939" cy="200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30"/>
              </a:lnSpc>
            </a:pPr>
            <a:r>
              <a:rPr lang="en-US" b="true" sz="6500" spc="-422">
                <a:solidFill>
                  <a:srgbClr val="006DAC"/>
                </a:solidFill>
                <a:latin typeface="Charlevoix Heavy"/>
                <a:ea typeface="Charlevoix Heavy"/>
                <a:cs typeface="Charlevoix Heavy"/>
                <a:sym typeface="Charlevoix Heavy"/>
              </a:rPr>
              <a:t>DEMONSTRAÇÃO DO PROTÓTIPO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5049915"/>
            <a:ext cx="8014708" cy="3498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</a:pPr>
            <a:r>
              <a:rPr lang="en-US" sz="2500">
                <a:solidFill>
                  <a:srgbClr val="006DAC"/>
                </a:solidFill>
                <a:latin typeface="Roboto"/>
                <a:ea typeface="Roboto"/>
                <a:cs typeface="Roboto"/>
                <a:sym typeface="Roboto"/>
              </a:rPr>
              <a:t>Tela de Login: acesso seguro com autenticação por e-mail e senha institucional.</a:t>
            </a:r>
          </a:p>
          <a:p>
            <a:pPr algn="l" marL="0" indent="0" lvl="0">
              <a:lnSpc>
                <a:spcPts val="3500"/>
              </a:lnSpc>
            </a:pPr>
            <a:r>
              <a:rPr lang="en-US" sz="2500">
                <a:solidFill>
                  <a:srgbClr val="006DAC"/>
                </a:solidFill>
                <a:latin typeface="Roboto"/>
                <a:ea typeface="Roboto"/>
                <a:cs typeface="Roboto"/>
                <a:sym typeface="Roboto"/>
              </a:rPr>
              <a:t>Dashboard Principal: visão geral das tarefas, prazos e notificações em tempo real.</a:t>
            </a:r>
          </a:p>
          <a:p>
            <a:pPr algn="l" marL="0" indent="0" lvl="0">
              <a:lnSpc>
                <a:spcPts val="3500"/>
              </a:lnSpc>
            </a:pPr>
            <a:r>
              <a:rPr lang="en-US" sz="2500">
                <a:solidFill>
                  <a:srgbClr val="006DAC"/>
                </a:solidFill>
                <a:latin typeface="Roboto"/>
                <a:ea typeface="Roboto"/>
                <a:cs typeface="Roboto"/>
                <a:sym typeface="Roboto"/>
              </a:rPr>
              <a:t>Gestão de Requisitos: cadastro, edição e rastreamento de requisitos por módulo.</a:t>
            </a:r>
          </a:p>
          <a:p>
            <a:pPr algn="l" marL="0" indent="0" lvl="0">
              <a:lnSpc>
                <a:spcPts val="3500"/>
              </a:lnSpc>
            </a:pPr>
            <a:r>
              <a:rPr lang="en-US" sz="2500">
                <a:solidFill>
                  <a:srgbClr val="006DAC"/>
                </a:solidFill>
                <a:latin typeface="Roboto"/>
                <a:ea typeface="Roboto"/>
                <a:cs typeface="Roboto"/>
                <a:sym typeface="Roboto"/>
              </a:rPr>
              <a:t>Relatórios: geração de relatórios customizados com filtros por período e usuário.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-10800000">
            <a:off x="4662203" y="8177289"/>
            <a:ext cx="6950371" cy="3475186"/>
          </a:xfrm>
          <a:custGeom>
            <a:avLst/>
            <a:gdLst/>
            <a:ahLst/>
            <a:cxnLst/>
            <a:rect r="r" b="b" t="t" l="l"/>
            <a:pathLst>
              <a:path h="3475186" w="6950371">
                <a:moveTo>
                  <a:pt x="6950372" y="3475186"/>
                </a:moveTo>
                <a:lnTo>
                  <a:pt x="0" y="3475186"/>
                </a:lnTo>
                <a:lnTo>
                  <a:pt x="0" y="0"/>
                </a:lnTo>
                <a:lnTo>
                  <a:pt x="6950372" y="0"/>
                </a:lnTo>
                <a:lnTo>
                  <a:pt x="6950372" y="347518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17869" y="-561110"/>
            <a:ext cx="9648825" cy="11419404"/>
            <a:chOff x="0" y="0"/>
            <a:chExt cx="2541254" cy="30075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1254" cy="3007580"/>
            </a:xfrm>
            <a:custGeom>
              <a:avLst/>
              <a:gdLst/>
              <a:ahLst/>
              <a:cxnLst/>
              <a:rect r="r" b="b" t="t" l="l"/>
              <a:pathLst>
                <a:path h="3007580" w="2541254">
                  <a:moveTo>
                    <a:pt x="0" y="0"/>
                  </a:moveTo>
                  <a:lnTo>
                    <a:pt x="2541254" y="0"/>
                  </a:lnTo>
                  <a:lnTo>
                    <a:pt x="2541254" y="3007580"/>
                  </a:lnTo>
                  <a:lnTo>
                    <a:pt x="0" y="3007580"/>
                  </a:lnTo>
                  <a:close/>
                </a:path>
              </a:pathLst>
            </a:custGeom>
            <a:solidFill>
              <a:srgbClr val="F5AD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1254" cy="3045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935226" y="2901308"/>
            <a:ext cx="953476" cy="982545"/>
          </a:xfrm>
          <a:custGeom>
            <a:avLst/>
            <a:gdLst/>
            <a:ahLst/>
            <a:cxnLst/>
            <a:rect r="r" b="b" t="t" l="l"/>
            <a:pathLst>
              <a:path h="982545" w="953476">
                <a:moveTo>
                  <a:pt x="0" y="0"/>
                </a:moveTo>
                <a:lnTo>
                  <a:pt x="953476" y="0"/>
                </a:lnTo>
                <a:lnTo>
                  <a:pt x="953476" y="982545"/>
                </a:lnTo>
                <a:lnTo>
                  <a:pt x="0" y="982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760671" y="4753443"/>
            <a:ext cx="1159887" cy="941645"/>
          </a:xfrm>
          <a:custGeom>
            <a:avLst/>
            <a:gdLst/>
            <a:ahLst/>
            <a:cxnLst/>
            <a:rect r="r" b="b" t="t" l="l"/>
            <a:pathLst>
              <a:path h="941645" w="1159887">
                <a:moveTo>
                  <a:pt x="0" y="0"/>
                </a:moveTo>
                <a:lnTo>
                  <a:pt x="1159887" y="0"/>
                </a:lnTo>
                <a:lnTo>
                  <a:pt x="1159887" y="941646"/>
                </a:lnTo>
                <a:lnTo>
                  <a:pt x="0" y="941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47671" y="6294914"/>
            <a:ext cx="980647" cy="1234805"/>
          </a:xfrm>
          <a:custGeom>
            <a:avLst/>
            <a:gdLst/>
            <a:ahLst/>
            <a:cxnLst/>
            <a:rect r="r" b="b" t="t" l="l"/>
            <a:pathLst>
              <a:path h="1234805" w="980647">
                <a:moveTo>
                  <a:pt x="0" y="0"/>
                </a:moveTo>
                <a:lnTo>
                  <a:pt x="980646" y="0"/>
                </a:lnTo>
                <a:lnTo>
                  <a:pt x="980646" y="1234805"/>
                </a:lnTo>
                <a:lnTo>
                  <a:pt x="0" y="1234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297186" y="8302528"/>
            <a:ext cx="4590548" cy="4114800"/>
          </a:xfrm>
          <a:custGeom>
            <a:avLst/>
            <a:gdLst/>
            <a:ahLst/>
            <a:cxnLst/>
            <a:rect r="r" b="b" t="t" l="l"/>
            <a:pathLst>
              <a:path h="4114800" w="4590548">
                <a:moveTo>
                  <a:pt x="0" y="0"/>
                </a:moveTo>
                <a:lnTo>
                  <a:pt x="4590547" y="0"/>
                </a:lnTo>
                <a:lnTo>
                  <a:pt x="45905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50745" y="1997701"/>
            <a:ext cx="5796855" cy="2002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4"/>
              </a:lnSpc>
            </a:pPr>
            <a:r>
              <a:rPr lang="en-US" b="true" sz="6495" spc="-422">
                <a:solidFill>
                  <a:srgbClr val="006DAC"/>
                </a:solidFill>
                <a:latin typeface="Charlevoix Heavy"/>
                <a:ea typeface="Charlevoix Heavy"/>
                <a:cs typeface="Charlevoix Heavy"/>
                <a:sym typeface="Charlevoix Heavy"/>
              </a:rPr>
              <a:t>BENEFÍCIOS E IMPACTO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58650" y="3057010"/>
            <a:ext cx="196273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6"/>
              </a:lnSpc>
            </a:pPr>
            <a:r>
              <a:rPr lang="en-US" b="true" sz="2850" spc="-185">
                <a:solidFill>
                  <a:srgbClr val="037094"/>
                </a:solidFill>
                <a:latin typeface="Charlevoix Bold"/>
                <a:ea typeface="Charlevoix Bold"/>
                <a:cs typeface="Charlevoix Bold"/>
                <a:sym typeface="Charlevoix Bold"/>
              </a:rPr>
              <a:t>EFICIÊNCIA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58650" y="4851130"/>
            <a:ext cx="2636006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6"/>
              </a:lnSpc>
            </a:pPr>
            <a:r>
              <a:rPr lang="en-US" b="true" sz="2850" spc="-185">
                <a:solidFill>
                  <a:srgbClr val="037094"/>
                </a:solidFill>
                <a:latin typeface="Charlevoix Bold"/>
                <a:ea typeface="Charlevoix Bold"/>
                <a:cs typeface="Charlevoix Bold"/>
                <a:sym typeface="Charlevoix Bold"/>
              </a:rPr>
              <a:t>COMUNICAÇÃO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58650" y="6564964"/>
            <a:ext cx="4378605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6"/>
              </a:lnSpc>
            </a:pPr>
            <a:r>
              <a:rPr lang="en-US" b="true" sz="2850" spc="-185">
                <a:solidFill>
                  <a:srgbClr val="037094"/>
                </a:solidFill>
                <a:latin typeface="Charlevoix Bold"/>
                <a:ea typeface="Charlevoix Bold"/>
                <a:cs typeface="Charlevoix Bold"/>
                <a:sym typeface="Charlevoix Bold"/>
              </a:rPr>
              <a:t>REDUÇÃO DE ERROS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50745" y="4226358"/>
            <a:ext cx="6192900" cy="3349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32"/>
              </a:lnSpc>
            </a:pPr>
            <a:r>
              <a:rPr lang="en-US" sz="2380">
                <a:solidFill>
                  <a:srgbClr val="006DAC"/>
                </a:solidFill>
                <a:latin typeface="Roboto"/>
                <a:ea typeface="Roboto"/>
                <a:cs typeface="Roboto"/>
                <a:sym typeface="Roboto"/>
              </a:rPr>
              <a:t>A implantação do sistema trará ganhos concretos para estudantes, professores e equipe administrativa da Unifor. Com processos automatizados e centralizados, espera-se maior produtividade, colaboração mais eficiente entre os envolvidos e significativa redução de falhas operacionais no gerenciamento da disciplina de Requisitos.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05061" y="4642168"/>
            <a:ext cx="7338939" cy="972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8"/>
              </a:lnSpc>
            </a:pPr>
            <a:r>
              <a:rPr lang="en-US" b="true" sz="3195" spc="-207">
                <a:solidFill>
                  <a:srgbClr val="00306D"/>
                </a:solidFill>
                <a:latin typeface="Charlevoix Heavy"/>
                <a:ea typeface="Charlevoix Heavy"/>
                <a:cs typeface="Charlevoix Heavy"/>
                <a:sym typeface="Charlevoix Heavy"/>
              </a:rPr>
              <a:t>OBRIGADO PELA ATENÇÃO!</a:t>
            </a:r>
          </a:p>
          <a:p>
            <a:pPr algn="l" marL="0" indent="0" lvl="0">
              <a:lnSpc>
                <a:spcPts val="3898"/>
              </a:lnSpc>
            </a:pPr>
            <a:r>
              <a:rPr lang="en-US" b="true" sz="3195" spc="-207">
                <a:solidFill>
                  <a:srgbClr val="00306D"/>
                </a:solidFill>
                <a:latin typeface="Charlevoix Heavy"/>
                <a:ea typeface="Charlevoix Heavy"/>
                <a:cs typeface="Charlevoix Heavy"/>
                <a:sym typeface="Charlevoix Heavy"/>
              </a:rPr>
              <a:t>PERGUNTAS?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65705" y="5957119"/>
            <a:ext cx="4872081" cy="1536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7"/>
              </a:lnSpc>
            </a:pPr>
            <a:r>
              <a:rPr lang="en-US" sz="2897">
                <a:solidFill>
                  <a:srgbClr val="00306D"/>
                </a:solidFill>
                <a:latin typeface="Roboto"/>
                <a:ea typeface="Roboto"/>
                <a:cs typeface="Roboto"/>
                <a:sym typeface="Roboto"/>
              </a:rPr>
              <a:t>apresentador@unifor.br</a:t>
            </a:r>
          </a:p>
          <a:p>
            <a:pPr algn="l" marL="0" indent="0" lvl="0">
              <a:lnSpc>
                <a:spcPts val="4057"/>
              </a:lnSpc>
            </a:pPr>
            <a:r>
              <a:rPr lang="en-US" sz="2897">
                <a:solidFill>
                  <a:srgbClr val="00306D"/>
                </a:solidFill>
                <a:latin typeface="Roboto"/>
                <a:ea typeface="Roboto"/>
                <a:cs typeface="Roboto"/>
                <a:sym typeface="Roboto"/>
              </a:rPr>
              <a:t>www.unifor.br</a:t>
            </a:r>
          </a:p>
          <a:p>
            <a:pPr algn="l" marL="0" indent="0" lvl="0">
              <a:lnSpc>
                <a:spcPts val="4057"/>
              </a:lnSpc>
            </a:pPr>
            <a:r>
              <a:rPr lang="en-US" sz="2897">
                <a:solidFill>
                  <a:srgbClr val="00306D"/>
                </a:solidFill>
                <a:latin typeface="Roboto"/>
                <a:ea typeface="Roboto"/>
                <a:cs typeface="Roboto"/>
                <a:sym typeface="Roboto"/>
              </a:rPr>
              <a:t>(85) 3477.3000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421423" y="-235594"/>
            <a:ext cx="9241654" cy="11511369"/>
            <a:chOff x="0" y="0"/>
            <a:chExt cx="2434016" cy="30318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4016" cy="3031801"/>
            </a:xfrm>
            <a:custGeom>
              <a:avLst/>
              <a:gdLst/>
              <a:ahLst/>
              <a:cxnLst/>
              <a:rect r="r" b="b" t="t" l="l"/>
              <a:pathLst>
                <a:path h="3031801" w="2434016">
                  <a:moveTo>
                    <a:pt x="0" y="0"/>
                  </a:moveTo>
                  <a:lnTo>
                    <a:pt x="2434016" y="0"/>
                  </a:lnTo>
                  <a:lnTo>
                    <a:pt x="2434016" y="3031801"/>
                  </a:lnTo>
                  <a:lnTo>
                    <a:pt x="0" y="3031801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34016" cy="3069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5400000">
            <a:off x="5779083" y="380571"/>
            <a:ext cx="11017344" cy="8795513"/>
          </a:xfrm>
          <a:custGeom>
            <a:avLst/>
            <a:gdLst/>
            <a:ahLst/>
            <a:cxnLst/>
            <a:rect r="r" b="b" t="t" l="l"/>
            <a:pathLst>
              <a:path h="8795513" w="11017344">
                <a:moveTo>
                  <a:pt x="0" y="0"/>
                </a:moveTo>
                <a:lnTo>
                  <a:pt x="11017345" y="0"/>
                </a:lnTo>
                <a:lnTo>
                  <a:pt x="11017345" y="8795513"/>
                </a:lnTo>
                <a:lnTo>
                  <a:pt x="0" y="8795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DAHL7OZw-a4</dc:identifier>
  <dcterms:modified xsi:type="dcterms:W3CDTF">2011-08-01T06:04:30Z</dcterms:modified>
  <cp:revision>1</cp:revision>
  <dc:title>Pitch da Proposta do Sistema (Requisitos)</dc:title>
</cp:coreProperties>
</file>